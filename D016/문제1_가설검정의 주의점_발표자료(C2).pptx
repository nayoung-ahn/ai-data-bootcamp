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|Cohen's d|</c:v>
                </c:pt>
              </c:strCache>
            </c:strRef>
          </c:tx>
          <c:spPr>
            <a:solidFill>
              <a:srgbClr val="D9502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5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15B-4AF4-AB0D-B4D838BD33AB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5B-4AF4-AB0D-B4D838BD33AB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5B-4AF4-AB0D-B4D838BD33AB}"/>
              </c:ext>
            </c:extLst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15B-4AF4-AB0D-B4D838BD33AB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펭귄 실제 (0.074)</c:v>
                </c:pt>
                <c:pt idx="1">
                  <c:v>작음 기준 (0.2)</c:v>
                </c:pt>
                <c:pt idx="2">
                  <c:v>중간 기준 (0.5)</c:v>
                </c:pt>
                <c:pt idx="3">
                  <c:v>큰 기준 (0.8)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7.3999999999999996E-2</c:v>
                </c:pt>
                <c:pt idx="1">
                  <c:v>0.2</c:v>
                </c:pt>
                <c:pt idx="2">
                  <c:v>0.5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15B-4AF4-AB0D-B4D838BD33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01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가설검정의 주의점</a:t>
            </a:r>
            <a:endParaRPr lang="en-US" sz="46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 · 펭귄 두 종의 몸무게는 정말 다를까?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표본크기와 p-값, 그리고 효과크기(Effect Size)에 관하여</a:t>
            </a:r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C2팀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6108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정호성  ·  </a:t>
            </a:r>
            <a:r>
              <a:rPr lang="en-US" sz="15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표시철</a:t>
            </a: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</a:t>
            </a:r>
            <a:r>
              <a:rPr lang="en-US" altLang="ko-KR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</a:t>
            </a:r>
            <a:r>
              <a:rPr lang="en-US" altLang="ko-KR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전유나  ·  안나영</a:t>
            </a:r>
            <a:endParaRPr lang="en-US" sz="15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21053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상황과 배경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806440" cy="5074920"/>
          </a:xfrm>
          <a:prstGeom prst="roundRect">
            <a:avLst>
              <a:gd name="adj" fmla="val 1441"/>
            </a:avLst>
          </a:prstGeom>
          <a:solidFill>
            <a:srgbClr val="FFF6DD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62000" y="133023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회차의 결론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174171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 — Adelie 수컷만 골라 회귀했을 때, p-값이 0.05를 넘어 </a:t>
            </a:r>
            <a:r>
              <a:rPr lang="en-US" sz="125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기각에</a:t>
            </a: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</a:t>
            </a:r>
            <a:r>
              <a:rPr lang="en-US" sz="125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했</a:t>
            </a:r>
            <a:r>
              <a:rPr lang="ko-KR" altLang="en-US" sz="125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으며</a:t>
            </a:r>
            <a:r>
              <a:rPr lang="en-US" altLang="ko-KR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그때는 “표본이 </a:t>
            </a:r>
            <a:r>
              <a:rPr lang="en-US" sz="125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작아서”라고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정리했다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2000" y="265611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문제의 질문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0288" y="32931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90600" y="306759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Adelie·Chinstrap 두 종의 실제 평균 몸무게 차이는 약 32g뿐 — 펭귄 한 마리(약 3,700g)의 1%도 안 되는 차이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0288" y="411610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90600" y="389055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32g을 그대로 둔 채 표본 크기만 계속 늘리면, p-값은 어디까지 내려갈까?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0288" y="493906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90600" y="471351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표본이 작아서 못 잡던 차이를, 표본을 한없이 키우면 결국 항상 “유의하다”고 나올까?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051560"/>
            <a:ext cx="5212080" cy="5074920"/>
          </a:xfrm>
          <a:prstGeom prst="roundRect">
            <a:avLst>
              <a:gd name="adj" fmla="val 1441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12280" y="1325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문제로 배우는 것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12280" y="1828800"/>
            <a:ext cx="4572000" cy="1417320"/>
          </a:xfrm>
          <a:prstGeom prst="roundRect">
            <a:avLst>
              <a:gd name="adj" fmla="val 3871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995160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“표본크기 n이 커지면 p-값은 작아진다”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95160" y="2514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 9장의 이 명제를, 실제 펭귄 데이터로 </a:t>
            </a:r>
            <a:r>
              <a:rPr lang="en-US" sz="115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r>
              <a:rPr lang="ko-KR" alt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</a:t>
            </a: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다.</a:t>
            </a:r>
            <a:endParaRPr lang="en-US" sz="11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12280" y="3429000"/>
            <a:ext cx="4572000" cy="1691640"/>
          </a:xfrm>
          <a:prstGeom prst="roundRect">
            <a:avLst>
              <a:gd name="adj" fmla="val 3243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95160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(Effect Size)를 함께 봐야 하는 이유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95160" y="4114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p-값만으로는 “차이가 통계적으로 검출되는가”만 알 수 </a:t>
            </a:r>
            <a:r>
              <a:rPr lang="en-US" sz="115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있다</a:t>
            </a: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“그 차이가 실질적으로 </a:t>
            </a:r>
            <a:r>
              <a:rPr lang="en-US" sz="115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큰가”는</a:t>
            </a: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효과크기가</a:t>
            </a: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답</a:t>
            </a:r>
            <a:r>
              <a:rPr lang="ko-KR" alt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</a:t>
            </a: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다. — 숫자로 </a:t>
            </a:r>
            <a:r>
              <a:rPr lang="en-US" sz="115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115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1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03720" y="528501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t-검정  →  Q2 효과크기  →  Q3 시뮬레이션  →  Q4 시각화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21053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준비 — Palmer Penguins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내장 penguins 데이터셋에서 body_mass_g 결측치를 제거한 뒤, Adelie·Chinstrap 두 </a:t>
            </a:r>
            <a:r>
              <a:rPr lang="en-US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종을</a:t>
            </a: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FF6DD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penguins = sns.load_dataset('penguins')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= penguins.dropna(subset=['body_mass_g', 'species'])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adelie    = mass.loc[mass['species'] == 'Adelie',    'body_mass_g']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chinstrap = mass.loc[mass['species'] == 'Chinstrap', 'body_mass_g']</a:t>
            </a:r>
            <a:endParaRPr lang="en-US" sz="1150" dirty="0">
              <a:solidFill>
                <a:srgbClr val="002060"/>
              </a:solidFill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32333"/>
              </p:ext>
            </p:extLst>
          </p:nvPr>
        </p:nvGraphicFramePr>
        <p:xfrm>
          <a:off x="457200" y="3246120"/>
          <a:ext cx="6492240" cy="1508760"/>
        </p:xfrm>
        <a:graphic>
          <a:graphicData uri="http://schemas.openxmlformats.org/drawingml/2006/table">
            <a:tbl>
              <a:tblPr/>
              <a:tblGrid>
                <a:gridCol w="162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종(species)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표본 수 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몸무게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Adelie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3,700.7 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458.6 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Chinstrap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3,733.1 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384.3 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269480" y="3246120"/>
            <a:ext cx="4069080" cy="1508760"/>
          </a:xfrm>
          <a:prstGeom prst="roundRect">
            <a:avLst>
              <a:gd name="adj" fmla="val 4848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45236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g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4523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종의 평균 몸무게 차이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45236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Adelie 몸무게의 0.9%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720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3152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관찰: 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 차이는 눈에 띄지 않을 </a:t>
            </a:r>
            <a:r>
              <a:rPr lang="en-US" sz="14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만큼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작다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이 작은 차이를 붙잡고 표본 크기 n만 늘려가며 t-검정을 반복하면 무슨 </a:t>
            </a:r>
            <a:r>
              <a:rPr lang="en-US" sz="14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일이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벌어질까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종의 몸무게, 이표본 t-검정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Adelie와 Chinstrap의 몸무게를 stats.ttest_ind()로 비교하고, 유의수준 0.05를 기준으로 기각 </a:t>
            </a:r>
            <a:r>
              <a:rPr lang="en-US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여부를</a:t>
            </a: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400800" cy="4480560"/>
          </a:xfrm>
          <a:prstGeom prst="roundRect">
            <a:avLst>
              <a:gd name="adj" fmla="val 1224"/>
            </a:avLst>
          </a:prstGeom>
          <a:solidFill>
            <a:srgbClr val="FFF6DD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t_stat, p_val = stats.ttest_ind(adelie, chinstrap)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 = %.3f, p = %.10f" % (t_stat, p_val))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p_val &lt; 0.05: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print("귀무가설을 기각한다.")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print("귀무가설을 기각하지 못한다.")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5943600" cy="2103120"/>
          </a:xfrm>
          <a:prstGeom prst="roundRect">
            <a:avLst>
              <a:gd name="adj" fmla="val 2174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-0.508          p = 0.6119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0.05 → 귀무가설을 기각하지 못한다.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(두 종의 평균 몸무게가 통계적으로 유의하게 다르다고 말할 수 없음)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75714" y="1508760"/>
            <a:ext cx="4251960" cy="4480560"/>
          </a:xfrm>
          <a:prstGeom prst="roundRect">
            <a:avLst>
              <a:gd name="adj" fmla="val 172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6092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15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ED6D65F-AF33-FBAB-8996-3AC95DDB5CA3}"/>
              </a:ext>
            </a:extLst>
          </p:cNvPr>
          <p:cNvGrpSpPr/>
          <p:nvPr/>
        </p:nvGrpSpPr>
        <p:grpSpPr>
          <a:xfrm>
            <a:off x="7360920" y="2903220"/>
            <a:ext cx="3858768" cy="1691640"/>
            <a:chOff x="7406640" y="2931524"/>
            <a:chExt cx="3858768" cy="1691640"/>
          </a:xfrm>
        </p:grpSpPr>
        <p:sp>
          <p:nvSpPr>
            <p:cNvPr id="15" name="Shape 13"/>
            <p:cNvSpPr/>
            <p:nvPr/>
          </p:nvSpPr>
          <p:spPr>
            <a:xfrm>
              <a:off x="7406640" y="3004676"/>
              <a:ext cx="82296" cy="82296"/>
            </a:xfrm>
            <a:prstGeom prst="ellipse">
              <a:avLst/>
            </a:prstGeom>
            <a:solidFill>
              <a:srgbClr val="065A82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6" name="Text 14"/>
            <p:cNvSpPr/>
            <p:nvPr/>
          </p:nvSpPr>
          <p:spPr>
            <a:xfrm>
              <a:off x="7607808" y="2931524"/>
              <a:ext cx="3657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n=151, n=68 규모의 실제 </a:t>
              </a:r>
              <a:r>
                <a:rPr lang="en-US" sz="1400" dirty="0" err="1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표본으로는</a:t>
              </a: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32 g </a:t>
              </a:r>
              <a:r>
                <a:rPr lang="en-US" sz="1400" dirty="0" err="1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차이가</a:t>
              </a: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통계적으로</a:t>
              </a: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유의하지</a:t>
              </a: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않음</a:t>
              </a: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406640" y="3919076"/>
              <a:ext cx="82296" cy="82296"/>
            </a:xfrm>
            <a:prstGeom prst="ellipse">
              <a:avLst/>
            </a:prstGeom>
            <a:solidFill>
              <a:srgbClr val="065A82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0" name="Text 18"/>
            <p:cNvSpPr/>
            <p:nvPr/>
          </p:nvSpPr>
          <p:spPr>
            <a:xfrm>
              <a:off x="7607808" y="3845924"/>
              <a:ext cx="3657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이 결과가 “차이가 없다”는 </a:t>
              </a:r>
              <a:r>
                <a:rPr lang="en-US" sz="1400" dirty="0" err="1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증거인지</a:t>
              </a: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“표본이 작아 못 찾은 것”인지는 아직 알 수 </a:t>
              </a:r>
              <a:r>
                <a:rPr lang="en-US" sz="1400" dirty="0" err="1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없음</a:t>
              </a: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4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21053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효과크기(Cohen's d) 직접 계산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집단 평균 차이를 통합 표준편차(pooled SD)로 나눠, 표본 크기와 무관한 “차이의 실질적 </a:t>
            </a:r>
            <a:r>
              <a:rPr lang="en-US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크기”를</a:t>
            </a: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</a:t>
            </a:r>
            <a:r>
              <a:rPr lang="ko-KR" alt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</a:t>
            </a:r>
            <a:r>
              <a:rPr lang="en-US" altLang="ko-KR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943600" cy="2331720"/>
          </a:xfrm>
          <a:prstGeom prst="roundRect">
            <a:avLst>
              <a:gd name="adj" fmla="val 2353"/>
            </a:avLst>
          </a:prstGeom>
          <a:solidFill>
            <a:srgbClr val="FFF6DD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cohen_d(x, y):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nx, ny = len(x), len(y)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sx, sy = np.std(x, ddof=1), np.std(y, ddof=1)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pooled_s = np.sqrt(((nx-1)*sx**2 + (ny-1)*sy**2)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 (nx + ny - 2))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(np.mean(x) - np.mean(y)) / pooled_s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cohen_d(adelie, chinstrap)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5943600" cy="2011680"/>
          </a:xfrm>
          <a:prstGeom prst="roundRect">
            <a:avLst>
              <a:gd name="adj" fmla="val 3636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6007E13-7F84-A38B-23CA-8CA06C79F012}"/>
              </a:ext>
            </a:extLst>
          </p:cNvPr>
          <p:cNvGrpSpPr/>
          <p:nvPr/>
        </p:nvGrpSpPr>
        <p:grpSpPr>
          <a:xfrm>
            <a:off x="731520" y="4297680"/>
            <a:ext cx="5394960" cy="1371600"/>
            <a:chOff x="731520" y="4160520"/>
            <a:chExt cx="5394960" cy="1371600"/>
          </a:xfrm>
        </p:grpSpPr>
        <p:sp>
          <p:nvSpPr>
            <p:cNvPr id="9" name="Text 7"/>
            <p:cNvSpPr/>
            <p:nvPr/>
          </p:nvSpPr>
          <p:spPr>
            <a:xfrm>
              <a:off x="731520" y="4160520"/>
              <a:ext cx="27432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 = -0.074</a:t>
              </a:r>
              <a:endParaRPr lang="en-US" sz="3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4892040"/>
              <a:ext cx="5394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Cohen의 관례적 기준(0.2 작음 / 0.5 중간 / 0.8 큼)에서, |d|=0.074는 “작음(0.2)”에도 못 미치는 매우 </a:t>
              </a:r>
              <a:r>
                <a:rPr lang="en-US" sz="1200" dirty="0" err="1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작은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수준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이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다.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" name="Text 9"/>
          <p:cNvSpPr/>
          <p:nvPr/>
        </p:nvSpPr>
        <p:spPr>
          <a:xfrm>
            <a:off x="667512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기준과 비교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675120" y="1920240"/>
          <a:ext cx="4663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21053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표본을 늘려가며 p-값·효과크기 추적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6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[30, 150, 1000, 5000, 20000]: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range(400):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sample_a = rng.normal(MU_A, SIGMA, n)   # p_median, p&lt;0.05 비율(%), Cohen's d 평균 집계</a:t>
            </a:r>
            <a:endParaRPr lang="en-US" sz="11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sample_c = rng.normal(MU_C, SIGMA, n)</a:t>
            </a:r>
            <a:endParaRPr lang="en-US" sz="1150" dirty="0">
              <a:solidFill>
                <a:srgbClr val="002060"/>
              </a:solidFill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779570"/>
              </p:ext>
            </p:extLst>
          </p:nvPr>
        </p:nvGraphicFramePr>
        <p:xfrm>
          <a:off x="457200" y="3017520"/>
          <a:ext cx="10881360" cy="2331720"/>
        </p:xfrm>
        <a:graphic>
          <a:graphicData uri="http://schemas.openxmlformats.org/drawingml/2006/table">
            <a:tbl>
              <a:tblPr/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표본크기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p-값 중위수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0.05 비율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d 평균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0.467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5.8%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-0.081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0.442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9.5%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-0.069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0.084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39.3%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-0.075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0.00016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9502A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95.5%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-0.075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&lt; 0.0001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9502A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100.0%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-0.074</a:t>
                      </a:r>
                      <a:endParaRPr lang="en-US" sz="125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486400"/>
            <a:ext cx="10881360" cy="685800"/>
          </a:xfrm>
          <a:prstGeom prst="roundRect">
            <a:avLst>
              <a:gd name="adj" fmla="val 10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56052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관찰: 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커질수록 p&lt;0.05 비율은 5.8% → 100%로 치솟지만, Cohen's d 평균은 -0.07 근처에서 거의 </a:t>
            </a:r>
            <a:r>
              <a:rPr lang="en-US" sz="14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움직이지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않</a:t>
            </a:r>
            <a:r>
              <a:rPr lang="ko-KR" alt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B627F80F-67D2-B7AE-E424-A35B30E9B079}"/>
              </a:ext>
            </a:extLst>
          </p:cNvPr>
          <p:cNvSpPr/>
          <p:nvPr/>
        </p:nvSpPr>
        <p:spPr>
          <a:xfrm>
            <a:off x="45720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Q1의 </a:t>
            </a:r>
            <a:r>
              <a:rPr lang="en-US" altLang="ko-KR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평균·통합표준편차를</a:t>
            </a:r>
            <a:r>
              <a:rPr lang="en-US" altLang="ko-KR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</a:t>
            </a:r>
            <a:r>
              <a:rPr lang="en-US" altLang="ko-KR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참값으로</a:t>
            </a:r>
            <a:r>
              <a:rPr lang="en-US" altLang="ko-KR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삼아</a:t>
            </a:r>
            <a:r>
              <a:rPr lang="en-US" altLang="ko-KR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 = 30 / 150 / 1,000 / 5,000 / 20,000에서 </a:t>
            </a:r>
            <a:r>
              <a:rPr lang="en-US" altLang="ko-KR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각각</a:t>
            </a:r>
            <a:r>
              <a:rPr lang="en-US" altLang="ko-KR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400회 </a:t>
            </a:r>
            <a:r>
              <a:rPr lang="en-US" altLang="ko-KR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</a:t>
            </a:r>
            <a:r>
              <a:rPr lang="en-US" altLang="ko-KR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</a:t>
            </a:r>
            <a:endParaRPr lang="en-US" altLang="ko-KR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21053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시각화 — p-값 vs 효과크기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표본크기 n(로그 스케일)에 따라 두 지표가 어떻게 </a:t>
            </a:r>
            <a:r>
              <a:rPr lang="en-US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다르게</a:t>
            </a: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움직이는지</a:t>
            </a: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4709160"/>
          </a:xfrm>
          <a:prstGeom prst="roundRect">
            <a:avLst>
              <a:gd name="adj" fmla="val 1165"/>
            </a:avLst>
          </a:prstGeom>
          <a:solidFill>
            <a:srgbClr val="FFF6DD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q4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10789920" cy="434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45BF8526-44CD-9A5F-B49B-15DCF82595EC}"/>
              </a:ext>
            </a:extLst>
          </p:cNvPr>
          <p:cNvGrpSpPr/>
          <p:nvPr/>
        </p:nvGrpSpPr>
        <p:grpSpPr>
          <a:xfrm>
            <a:off x="457200" y="411480"/>
            <a:ext cx="1737360" cy="347472"/>
            <a:chOff x="457200" y="411480"/>
            <a:chExt cx="1737360" cy="347472"/>
          </a:xfrm>
        </p:grpSpPr>
        <p:sp>
          <p:nvSpPr>
            <p:cNvPr id="2" name="Shape 0"/>
            <p:cNvSpPr/>
            <p:nvPr/>
          </p:nvSpPr>
          <p:spPr>
            <a:xfrm>
              <a:off x="457200" y="411480"/>
              <a:ext cx="1737360" cy="347472"/>
            </a:xfrm>
            <a:prstGeom prst="roundRect">
              <a:avLst>
                <a:gd name="adj" fmla="val 2105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Text 1"/>
            <p:cNvSpPr/>
            <p:nvPr/>
          </p:nvSpPr>
          <p:spPr>
            <a:xfrm>
              <a:off x="457200" y="411480"/>
              <a:ext cx="1737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해석</a:t>
              </a:r>
              <a:endParaRPr lang="en-US" sz="16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결과를 말로 설명하면 (1/3)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FFF6DD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9201F4-4061-2399-F568-E1D1284F33B2}"/>
              </a:ext>
            </a:extLst>
          </p:cNvPr>
          <p:cNvGrpSpPr/>
          <p:nvPr/>
        </p:nvGrpSpPr>
        <p:grpSpPr>
          <a:xfrm>
            <a:off x="685800" y="1485900"/>
            <a:ext cx="457200" cy="457200"/>
            <a:chOff x="685800" y="1389888"/>
            <a:chExt cx="457200" cy="457200"/>
          </a:xfrm>
        </p:grpSpPr>
        <p:sp>
          <p:nvSpPr>
            <p:cNvPr id="6" name="Shape 4"/>
            <p:cNvSpPr/>
            <p:nvPr/>
          </p:nvSpPr>
          <p:spPr>
            <a:xfrm>
              <a:off x="685800" y="1389888"/>
              <a:ext cx="457200" cy="4572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138988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</a:t>
              </a:r>
              <a:endParaRPr lang="en-US" sz="16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1325880" y="1325880"/>
            <a:ext cx="98374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Q1에서는 유의한 차이가 없었는데, Q3의 n=5,000에서는 95% 이상 유의했습니다. 같은 32g인데 결론이 갈린 이유는 무엇인가요?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10312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표본이 작을 때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(n=151, 68)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32g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 </a:t>
            </a:r>
            <a:r>
              <a:rPr lang="ko-KR" altLang="en-US" sz="14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표집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변동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(sampling noise)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속에 묻혀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유의하지 않다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결과가 나왔지만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표본을 늘리면 표준오차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(SE=σ/√n)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줄어들어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커지고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그만큼 작아진다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 두 결과가 갈린 이유는 차이의 실제 크기가 변했기 때문이 아니라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작은 차이를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우연이 아니다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라고 검출해낼 수 있는 통계적 힘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4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검정력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표본 크기에 따라 달라졌기 때문이다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FFF6DD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22E8979-B9F7-C61E-0736-5C5D897D6D7F}"/>
              </a:ext>
            </a:extLst>
          </p:cNvPr>
          <p:cNvGrpSpPr/>
          <p:nvPr/>
        </p:nvGrpSpPr>
        <p:grpSpPr>
          <a:xfrm>
            <a:off x="685800" y="4046220"/>
            <a:ext cx="457200" cy="457200"/>
            <a:chOff x="685800" y="3950208"/>
            <a:chExt cx="457200" cy="457200"/>
          </a:xfrm>
        </p:grpSpPr>
        <p:sp>
          <p:nvSpPr>
            <p:cNvPr id="11" name="Shape 9"/>
            <p:cNvSpPr/>
            <p:nvPr/>
          </p:nvSpPr>
          <p:spPr>
            <a:xfrm>
              <a:off x="685800" y="3950208"/>
              <a:ext cx="457200" cy="4572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685800" y="39502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</a:t>
              </a:r>
              <a:endParaRPr lang="en-US" sz="16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1325880" y="38862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Q3의 표에서 n이 커질 때 p-값은 어떻게 변했나요? Cohen's d는 어떻게 변했나요? 이 대비를 한 문장으로 정리하면?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66344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30→20,000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커질수록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값은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대에서 사실상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0(10⁻¹³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수준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까지 급락하지만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Cohen's d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 ~ -0.08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사이에서 거의 변하지 않는다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값은 표본크기에 좌우되는 값이고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효과크기는 표본크기와 무관하게 실제 차이의 크기를 보여주는 값이다</a:t>
            </a:r>
            <a:r>
              <a:rPr lang="en-US" altLang="ko-KR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결과를 말로 설명하면 (2/3)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FFF6DD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AB632B5-01E1-5265-CAE9-2B5361FC3594}"/>
              </a:ext>
            </a:extLst>
          </p:cNvPr>
          <p:cNvGrpSpPr/>
          <p:nvPr/>
        </p:nvGrpSpPr>
        <p:grpSpPr>
          <a:xfrm>
            <a:off x="685800" y="1485900"/>
            <a:ext cx="457200" cy="457200"/>
            <a:chOff x="685800" y="1389888"/>
            <a:chExt cx="457200" cy="457200"/>
          </a:xfrm>
        </p:grpSpPr>
        <p:sp>
          <p:nvSpPr>
            <p:cNvPr id="6" name="Shape 4"/>
            <p:cNvSpPr/>
            <p:nvPr/>
          </p:nvSpPr>
          <p:spPr>
            <a:xfrm>
              <a:off x="685800" y="1389888"/>
              <a:ext cx="457200" cy="4572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138988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</a:t>
              </a:r>
              <a:endParaRPr lang="en-US" sz="16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1325880" y="13258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“통계적으로 유의하다”와 “실질적으로 의미 있다”는 같은 말인가요? 펭귄 32g을 예로 설명해 보세요.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10312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20000"/>
              </a:lnSpc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ko-KR" altLang="ko-KR" sz="1400" dirty="0"/>
              <a:t>"통계적으로 </a:t>
            </a:r>
            <a:r>
              <a:rPr lang="ko-KR" altLang="ko-KR" sz="1400" dirty="0" err="1"/>
              <a:t>유의하다"는</a:t>
            </a:r>
            <a:r>
              <a:rPr lang="ko-KR" altLang="ko-KR" sz="1400" dirty="0"/>
              <a:t> 그 차이가 순전히 우연으로 생겼을 가능성이 낮다는 뜻이고, "실질적으로 의미 있다"는 그 차이의 크기가 실제로 신경 쓸 만큼 중요하다는 뜻으로, 서로 완전히 다른 질문에 대한 답이다. </a:t>
            </a:r>
            <a:endParaRPr lang="en-US" altLang="ko-KR" sz="1400" dirty="0"/>
          </a:p>
          <a:p>
            <a:pPr>
              <a:lnSpc>
                <a:spcPct val="120000"/>
              </a:lnSpc>
            </a:pPr>
            <a:r>
              <a:rPr lang="ko-KR" altLang="ko-KR" sz="1400" dirty="0" err="1"/>
              <a:t>n</a:t>
            </a:r>
            <a:r>
              <a:rPr lang="ko-KR" altLang="ko-KR" sz="1400" dirty="0"/>
              <a:t>=20,000에서 32g 차이는 </a:t>
            </a:r>
            <a:r>
              <a:rPr lang="ko-KR" altLang="ko-KR" sz="1400" dirty="0" err="1"/>
              <a:t>p</a:t>
            </a:r>
            <a:r>
              <a:rPr lang="ko-KR" altLang="ko-KR" sz="1400" dirty="0"/>
              <a:t>&lt;0.05로 유의하게 나오지만 </a:t>
            </a:r>
            <a:r>
              <a:rPr lang="ko-KR" altLang="ko-KR" sz="1400" dirty="0" err="1"/>
              <a:t>Cohen's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d는</a:t>
            </a:r>
            <a:r>
              <a:rPr lang="ko-KR" altLang="ko-KR" sz="1400" dirty="0"/>
              <a:t> 여전히 작음 미만 수준이라, "우연이 </a:t>
            </a:r>
            <a:r>
              <a:rPr lang="ko-KR" altLang="ko-KR" sz="1400" dirty="0" err="1"/>
              <a:t>아니다"라고는</a:t>
            </a:r>
            <a:r>
              <a:rPr lang="ko-KR" altLang="ko-KR" sz="1400" dirty="0"/>
              <a:t> 말할 수 있어도 "두 종이 실질적으로 다른 </a:t>
            </a:r>
            <a:r>
              <a:rPr lang="ko-KR" altLang="ko-KR" sz="1400" dirty="0" err="1"/>
              <a:t>부류다"라고는</a:t>
            </a:r>
            <a:r>
              <a:rPr lang="ko-KR" altLang="ko-KR" sz="1400" dirty="0"/>
              <a:t> 말할 수 없다</a:t>
            </a:r>
            <a:r>
              <a:rPr lang="en-US" altLang="ko-KR" sz="1400" dirty="0"/>
              <a:t>.</a:t>
            </a:r>
            <a:r>
              <a:rPr lang="ko-KR" altLang="ko-KR" sz="1400" dirty="0"/>
              <a:t> — 3,700g 펭귄 기준 0.9%에 불과한 32g은 생물학적으로 거의 무시할 수 있는 차이다.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FFF6DD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9914762-AE90-3ADD-5D9B-9006E4F23D06}"/>
              </a:ext>
            </a:extLst>
          </p:cNvPr>
          <p:cNvGrpSpPr/>
          <p:nvPr/>
        </p:nvGrpSpPr>
        <p:grpSpPr>
          <a:xfrm>
            <a:off x="685800" y="4046220"/>
            <a:ext cx="457200" cy="457200"/>
            <a:chOff x="685800" y="3950208"/>
            <a:chExt cx="457200" cy="457200"/>
          </a:xfrm>
        </p:grpSpPr>
        <p:sp>
          <p:nvSpPr>
            <p:cNvPr id="11" name="Shape 9"/>
            <p:cNvSpPr/>
            <p:nvPr/>
          </p:nvSpPr>
          <p:spPr>
            <a:xfrm>
              <a:off x="685800" y="3950208"/>
              <a:ext cx="457200" cy="4572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685800" y="39502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</a:t>
              </a:r>
              <a:endParaRPr lang="en-US" sz="16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1325880" y="38862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테스트에서 버튼 색을 바꿨더니 클릭률이 0.1%p 올랐고 p-값은 0.001이었습니다. 이 결과만으로 버튼을 바꿔야 한다고 말할 수 있을까요?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66344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/</a:t>
            </a:r>
            <a:r>
              <a:rPr lang="ko-KR" altLang="ko-KR" sz="1400" dirty="0" err="1"/>
              <a:t>B</a:t>
            </a:r>
            <a:r>
              <a:rPr lang="ko-KR" altLang="ko-KR" sz="1400" dirty="0"/>
              <a:t> 테스트는 표본(트래픽)이 매우 커서 0.1%p 같은 작은 차이도 쉽게 유의하게 나온다</a:t>
            </a:r>
            <a:r>
              <a:rPr lang="en-US" altLang="ko-KR" sz="1400" dirty="0"/>
              <a:t>.</a:t>
            </a:r>
          </a:p>
          <a:p>
            <a:pPr algn="just">
              <a:lnSpc>
                <a:spcPct val="120000"/>
              </a:lnSpc>
            </a:pPr>
            <a:r>
              <a:rPr lang="ko-KR" altLang="ko-KR" sz="1400" dirty="0" err="1"/>
              <a:t>p</a:t>
            </a:r>
            <a:r>
              <a:rPr lang="ko-KR" altLang="ko-KR" sz="1400" dirty="0"/>
              <a:t>-값 0.001은 "이 차이가 우연일 가능성이 </a:t>
            </a:r>
            <a:r>
              <a:rPr lang="ko-KR" altLang="ko-KR" sz="1400" dirty="0" err="1"/>
              <a:t>낮다"만</a:t>
            </a:r>
            <a:r>
              <a:rPr lang="ko-KR" altLang="ko-KR" sz="1400" dirty="0"/>
              <a:t> 말해줄 뿐 "그만한 가치가 있는 </a:t>
            </a:r>
            <a:r>
              <a:rPr lang="ko-KR" altLang="ko-KR" sz="1400" dirty="0" err="1"/>
              <a:t>차이인가"는</a:t>
            </a:r>
            <a:r>
              <a:rPr lang="ko-KR" altLang="ko-KR" sz="1400" dirty="0"/>
              <a:t> 말해주지 않으므로, 0.1%p가 실제 </a:t>
            </a:r>
            <a:r>
              <a:rPr lang="ko-KR" altLang="ko-KR" sz="1400" dirty="0" err="1"/>
              <a:t>클릭률</a:t>
            </a:r>
            <a:r>
              <a:rPr lang="ko-KR" altLang="ko-KR" sz="1400" dirty="0"/>
              <a:t> 대비 얼마나 큰 상대적 변화인지, </a:t>
            </a:r>
            <a:r>
              <a:rPr lang="ko-KR" altLang="ko-KR" sz="1400" dirty="0" err="1"/>
              <a:t>매출·전환에</a:t>
            </a:r>
            <a:r>
              <a:rPr lang="ko-KR" altLang="ko-KR" sz="1400" dirty="0"/>
              <a:t> 미치는 실질적 영향(효과크기)이 버튼 교체에 드는 </a:t>
            </a:r>
            <a:r>
              <a:rPr lang="ko-KR" altLang="ko-KR" sz="1400" dirty="0" err="1"/>
              <a:t>비용·리스크보다</a:t>
            </a:r>
            <a:r>
              <a:rPr lang="ko-KR" altLang="ko-KR" sz="1400" dirty="0"/>
              <a:t> 큰지를 함께 따져야 결정할 수 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9ADDD29-2107-A618-EE68-94BADDAB7045}"/>
              </a:ext>
            </a:extLst>
          </p:cNvPr>
          <p:cNvGrpSpPr/>
          <p:nvPr/>
        </p:nvGrpSpPr>
        <p:grpSpPr>
          <a:xfrm>
            <a:off x="457200" y="411480"/>
            <a:ext cx="1737360" cy="347472"/>
            <a:chOff x="457200" y="411480"/>
            <a:chExt cx="1737360" cy="347472"/>
          </a:xfrm>
        </p:grpSpPr>
        <p:sp>
          <p:nvSpPr>
            <p:cNvPr id="28" name="Shape 0">
              <a:extLst>
                <a:ext uri="{FF2B5EF4-FFF2-40B4-BE49-F238E27FC236}">
                  <a16:creationId xmlns:a16="http://schemas.microsoft.com/office/drawing/2014/main" id="{89207947-1B3D-676A-9634-FE23AD168A64}"/>
                </a:ext>
              </a:extLst>
            </p:cNvPr>
            <p:cNvSpPr/>
            <p:nvPr/>
          </p:nvSpPr>
          <p:spPr>
            <a:xfrm>
              <a:off x="457200" y="411480"/>
              <a:ext cx="1737360" cy="347472"/>
            </a:xfrm>
            <a:prstGeom prst="roundRect">
              <a:avLst>
                <a:gd name="adj" fmla="val 2105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D2EC89E7-FB3F-8F8B-929F-FD6A21157C82}"/>
                </a:ext>
              </a:extLst>
            </p:cNvPr>
            <p:cNvSpPr/>
            <p:nvPr/>
          </p:nvSpPr>
          <p:spPr>
            <a:xfrm>
              <a:off x="457200" y="411480"/>
              <a:ext cx="1737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해석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7744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결과를 말로 설명하면 (3/3)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881360" cy="3063240"/>
          </a:xfrm>
          <a:prstGeom prst="roundRect">
            <a:avLst>
              <a:gd name="adj" fmla="val 2388"/>
            </a:avLst>
          </a:prstGeom>
          <a:solidFill>
            <a:srgbClr val="FFF6DD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66BB34A-38EC-52D6-B03D-A281A74A8475}"/>
              </a:ext>
            </a:extLst>
          </p:cNvPr>
          <p:cNvGrpSpPr/>
          <p:nvPr/>
        </p:nvGrpSpPr>
        <p:grpSpPr>
          <a:xfrm>
            <a:off x="685800" y="1485900"/>
            <a:ext cx="457200" cy="457200"/>
            <a:chOff x="685800" y="1389888"/>
            <a:chExt cx="457200" cy="457200"/>
          </a:xfrm>
        </p:grpSpPr>
        <p:sp>
          <p:nvSpPr>
            <p:cNvPr id="6" name="Shape 4"/>
            <p:cNvSpPr/>
            <p:nvPr/>
          </p:nvSpPr>
          <p:spPr>
            <a:xfrm>
              <a:off x="685800" y="1389888"/>
              <a:ext cx="457200" cy="4572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138988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</a:t>
              </a:r>
              <a:endParaRPr lang="en-US" sz="16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1325880" y="13258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논문이나 보고서에 p-값만 적는 것이 왜 부족한가요? 무엇을 함께 적어야 할까요?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103120"/>
            <a:ext cx="9784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20000"/>
              </a:lnSpc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1400" dirty="0" err="1"/>
              <a:t>p</a:t>
            </a:r>
            <a:r>
              <a:rPr lang="ko-KR" altLang="ko-KR" sz="1400" dirty="0"/>
              <a:t>-값 하나만 적으면 "차이가 있는지 </a:t>
            </a:r>
            <a:r>
              <a:rPr lang="ko-KR" altLang="ko-KR" sz="1400" dirty="0" err="1"/>
              <a:t>없는지"는</a:t>
            </a:r>
            <a:r>
              <a:rPr lang="ko-KR" altLang="ko-KR" sz="1400" dirty="0"/>
              <a:t> 답이 되지만 "그 차이가 얼마나 크고 실제로 </a:t>
            </a:r>
            <a:r>
              <a:rPr lang="ko-KR" altLang="ko-KR" sz="1400" dirty="0" err="1"/>
              <a:t>중요한지"에</a:t>
            </a:r>
            <a:r>
              <a:rPr lang="ko-KR" altLang="ko-KR" sz="1400" dirty="0"/>
              <a:t> 대한 정보는 전혀 담기지 않는다. 게다가 </a:t>
            </a:r>
            <a:r>
              <a:rPr lang="ko-KR" altLang="ko-KR" sz="1400" dirty="0" err="1"/>
              <a:t>p</a:t>
            </a:r>
            <a:r>
              <a:rPr lang="ko-KR" altLang="ko-KR" sz="1400" dirty="0"/>
              <a:t>-값은 표본크기를 충분히 늘리면 사실상 어떤 미세한 차이든 유의하게 만들 수 있는 값이라, 이것만 보고하면 "차이가 </a:t>
            </a:r>
            <a:r>
              <a:rPr lang="ko-KR" altLang="ko-KR" sz="1400" dirty="0" err="1"/>
              <a:t>크다"는</a:t>
            </a:r>
            <a:r>
              <a:rPr lang="ko-KR" altLang="ko-KR" sz="1400" dirty="0"/>
              <a:t> 오해를 부를 수 있다. </a:t>
            </a:r>
            <a:endParaRPr lang="en-US" altLang="ko-KR" sz="1400" dirty="0"/>
          </a:p>
          <a:p>
            <a:pPr algn="just">
              <a:lnSpc>
                <a:spcPct val="120000"/>
              </a:lnSpc>
            </a:pPr>
            <a:r>
              <a:rPr lang="ko-KR" altLang="ko-KR" sz="1400" dirty="0"/>
              <a:t>따라서 효과크기(</a:t>
            </a:r>
            <a:r>
              <a:rPr lang="ko-KR" altLang="ko-KR" sz="1400" dirty="0" err="1"/>
              <a:t>Cohen's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</a:t>
            </a:r>
            <a:r>
              <a:rPr lang="ko-KR" altLang="ko-KR" sz="1400" dirty="0"/>
              <a:t>)와 표본크기(</a:t>
            </a:r>
            <a:r>
              <a:rPr lang="ko-KR" altLang="ko-KR" sz="1400" dirty="0" err="1"/>
              <a:t>n</a:t>
            </a:r>
            <a:r>
              <a:rPr lang="ko-KR" altLang="ko-KR" sz="1400" dirty="0"/>
              <a:t>), 가능하면 신뢰구간까지 함께 보고해야 하며, 이는 미국통계협회(ASA)가 2016년 성명에서 "</a:t>
            </a:r>
            <a:r>
              <a:rPr lang="ko-KR" altLang="ko-KR" sz="1400" dirty="0" err="1"/>
              <a:t>p</a:t>
            </a:r>
            <a:r>
              <a:rPr lang="ko-KR" altLang="ko-KR" sz="1400" dirty="0"/>
              <a:t>-값 하나로 과학적 결론이나 정책적 결정을 대신해서는 안 </a:t>
            </a:r>
            <a:r>
              <a:rPr lang="ko-KR" altLang="ko-KR" sz="1400" dirty="0" err="1"/>
              <a:t>된다"고</a:t>
            </a:r>
            <a:r>
              <a:rPr lang="ko-KR" altLang="ko-KR" sz="1400" dirty="0"/>
              <a:t> 명시한 것과 같은 맥락이다.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10881360" cy="868680"/>
          </a:xfrm>
          <a:prstGeom prst="roundRect">
            <a:avLst>
              <a:gd name="adj" fmla="val 8421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5795" y="4503420"/>
            <a:ext cx="105041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값은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altLang="ko-KR" sz="14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</a:t>
            </a:r>
            <a:r>
              <a:rPr lang="en-US" altLang="ko-KR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있는가”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효과크기는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“그 </a:t>
            </a:r>
            <a:r>
              <a:rPr lang="en-US" altLang="ko-KR" sz="14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</a:t>
            </a:r>
            <a:r>
              <a:rPr lang="en-US" altLang="ko-KR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얼마나</a:t>
            </a:r>
            <a:r>
              <a:rPr lang="en-US" altLang="ko-KR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큰가”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답합니다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표본이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크면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p-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값만으로는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이 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둘을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구분할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없습니다</a:t>
            </a:r>
            <a:r>
              <a:rPr lang="en-US" altLang="ko-KR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altLang="ko-KR" sz="1200" b="1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가설검정의 주의점 · 펭귄 두 종의 몸무게는 정말 다를까?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9C1EB6B-1E3E-3E9F-C80E-A6296545D7A9}"/>
              </a:ext>
            </a:extLst>
          </p:cNvPr>
          <p:cNvGrpSpPr/>
          <p:nvPr/>
        </p:nvGrpSpPr>
        <p:grpSpPr>
          <a:xfrm>
            <a:off x="457200" y="411480"/>
            <a:ext cx="1737360" cy="347472"/>
            <a:chOff x="457200" y="411480"/>
            <a:chExt cx="1737360" cy="347472"/>
          </a:xfrm>
        </p:grpSpPr>
        <p:sp>
          <p:nvSpPr>
            <p:cNvPr id="15" name="Shape 0">
              <a:extLst>
                <a:ext uri="{FF2B5EF4-FFF2-40B4-BE49-F238E27FC236}">
                  <a16:creationId xmlns:a16="http://schemas.microsoft.com/office/drawing/2014/main" id="{476DDA4E-D1E3-6EA7-207F-979265B5822B}"/>
                </a:ext>
              </a:extLst>
            </p:cNvPr>
            <p:cNvSpPr/>
            <p:nvPr/>
          </p:nvSpPr>
          <p:spPr>
            <a:xfrm>
              <a:off x="457200" y="411480"/>
              <a:ext cx="1737360" cy="347472"/>
            </a:xfrm>
            <a:prstGeom prst="roundRect">
              <a:avLst>
                <a:gd name="adj" fmla="val 2105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">
              <a:extLst>
                <a:ext uri="{FF2B5EF4-FFF2-40B4-BE49-F238E27FC236}">
                  <a16:creationId xmlns:a16="http://schemas.microsoft.com/office/drawing/2014/main" id="{97D3151B-9BEC-38EE-F82E-1B8143F5361A}"/>
                </a:ext>
              </a:extLst>
            </p:cNvPr>
            <p:cNvSpPr/>
            <p:nvPr/>
          </p:nvSpPr>
          <p:spPr>
            <a:xfrm>
              <a:off x="457200" y="411480"/>
              <a:ext cx="1737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해석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요약 정리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 · 펭귄 두 종의 몸무게는 정말 다를까?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16636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23774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n↑ → p↓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크기만 키우면, 32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g처럼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실질적으로 작은 차이도 언젠가 p&lt;0.05로 “유의하다”고 나온다.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16636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효과크기는 n과 무관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39" y="2788920"/>
            <a:ext cx="47635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d는 표본크기가 30이든 20,000이든 -0.07 근처에서 거의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변하지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않는다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— 차이의 진짜 크기를 보여준다.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51560" y="4069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46177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유의성 ≠ 실질적 중요성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5029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“통계적으로 유의하다”는 “우연이 아니다”는 뜻이지, “중요하게 크다”는 뜻이 아니다.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4069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92240" y="46177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p-값 + 효과크기를 함께 보고하라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5029200"/>
            <a:ext cx="4709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결론을 내릴 때는 p-값 하나가 아니라, 효과크기(및 신뢰구간)까지 함께 확인해야 한다.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C2팀  정호성 · 표시철 · 전유나 · 안나영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1718</Words>
  <Application>Microsoft Office PowerPoint</Application>
  <PresentationFormat>와이드스크린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ahnny215@gmail.com</cp:lastModifiedBy>
  <cp:revision>3</cp:revision>
  <dcterms:created xsi:type="dcterms:W3CDTF">2026-07-30T05:39:12Z</dcterms:created>
  <dcterms:modified xsi:type="dcterms:W3CDTF">2026-07-30T07:03:28Z</dcterms:modified>
</cp:coreProperties>
</file>