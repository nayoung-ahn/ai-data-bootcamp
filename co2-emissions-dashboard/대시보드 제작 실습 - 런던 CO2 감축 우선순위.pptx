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5" r:id="rId6"/>
    <p:sldId id="261" r:id="rId7"/>
    <p:sldId id="266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36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2-priority-dashboard.netlify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4C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150" dirty="0">
                <a:solidFill>
                  <a:srgbClr val="BFE2D8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DECC / BEIS · LONDON BOROUGH CO</a:t>
            </a:r>
            <a:r>
              <a:rPr lang="en-US" sz="1300" kern="0" spc="150" baseline="-25000" dirty="0">
                <a:solidFill>
                  <a:srgbClr val="BFE2D8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2</a:t>
            </a:r>
            <a:r>
              <a:rPr lang="en-US" sz="1300" kern="0" spc="150" dirty="0">
                <a:solidFill>
                  <a:srgbClr val="BFE2D8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 DATA · 2005–2014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런던 자치구·부문별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CO</a:t>
            </a:r>
            <a:r>
              <a:rPr lang="en-US" sz="4000" baseline="-25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2</a:t>
            </a:r>
            <a:r>
              <a:rPr lang="en-US" sz="4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감축 우선순위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45262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8E3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배출량이 크면서 감축이 더딘 자치구·부문 조합을 찾아 정책 개입 우선순위를 제안하는 대시보드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54C45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01 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EDA — 데이터 구조와 기초 탐색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런던 33개 자치구 × 부문별 CO</a:t>
            </a:r>
            <a:r>
              <a:rPr lang="en-US" sz="1250" baseline="-25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2</a:t>
            </a:r>
            <a:r>
              <a:rPr lang="en-US" sz="12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배출량, 2005–2014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578608"/>
            <a:ext cx="3003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출처 · 범위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944368"/>
            <a:ext cx="3157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DECC/BEIS "Local and Regional CO</a:t>
            </a:r>
            <a:r>
              <a:rPr lang="en-US" sz="1100" baseline="-25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2</a:t>
            </a:r>
            <a:r>
              <a:rPr lang="en-US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Emissions Estimates"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런던 33개 자치구, 2005–2014(10개년)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38218" y="187452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con_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250" y="21031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4250" y="2578608"/>
            <a:ext cx="3003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구조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94250" y="2944368"/>
            <a:ext cx="300319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Code·Name·Year·Sector·Emissions_kt·Population_000s·PerCapita_Emissions_t · 1,320행</a:t>
            </a:r>
          </a:p>
          <a:p>
            <a:pPr>
              <a:lnSpc>
                <a:spcPct val="125000"/>
              </a:lnSpc>
            </a:pP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산업·상업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/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가정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/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교통</a:t>
            </a:r>
            <a:endParaRPr lang="en-US" altLang="ko-KR" sz="1100" dirty="0"/>
          </a:p>
        </p:txBody>
      </p:sp>
      <p:sp>
        <p:nvSpPr>
          <p:cNvPr id="13" name="Shape 9"/>
          <p:cNvSpPr/>
          <p:nvPr/>
        </p:nvSpPr>
        <p:spPr>
          <a:xfrm>
            <a:off x="8127797" y="187452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icon_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3829" y="21031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83829" y="2578608"/>
            <a:ext cx="3003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기준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383829" y="2944368"/>
            <a:ext cx="300319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0000"/>
              </a:lnSpc>
            </a:pP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TOTAL: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토지이용·산림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변화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(</a:t>
            </a:r>
            <a:r>
              <a:rPr lang="ko-KR" altLang="ko-KR" sz="1100" dirty="0"/>
              <a:t>LULUCF</a:t>
            </a:r>
            <a:r>
              <a:rPr lang="en-US" altLang="ko-KR" sz="1100" dirty="0"/>
              <a:t>)</a:t>
            </a:r>
            <a:r>
              <a:rPr lang="ko-KR" altLang="en-US" sz="1100" dirty="0"/>
              <a:t>까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지</a:t>
            </a:r>
            <a:endParaRPr lang="en-US" altLang="ko-KR" sz="1100" dirty="0"/>
          </a:p>
          <a:p>
            <a:pPr>
              <a:lnSpc>
                <a:spcPct val="130000"/>
              </a:lnSpc>
            </a:pP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포함한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전체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배출량</a:t>
            </a:r>
            <a:endParaRPr lang="en-US" altLang="ko-KR" sz="1100" dirty="0"/>
          </a:p>
          <a:p>
            <a:pPr>
              <a:lnSpc>
                <a:spcPct val="130000"/>
              </a:lnSpc>
            </a:pPr>
            <a:r>
              <a:rPr lang="en-US" altLang="ko-KR" sz="1100" dirty="0">
                <a:solidFill>
                  <a:srgbClr val="595959"/>
                </a:solidFill>
                <a:latin typeface="Hallym Gothic Regular"/>
                <a:ea typeface="Hallym Gothic Regular"/>
                <a:cs typeface="Hallym Gothic Regular" pitchFamily="34" charset="-120"/>
              </a:rPr>
              <a:t>SUBSET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: </a:t>
            </a:r>
            <a:r>
              <a:rPr lang="ko-KR" altLang="ko-KR" sz="1100" dirty="0"/>
              <a:t>LULUCF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제외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ko-KR" altLang="en-US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배출량 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→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지자체가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실제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개입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가능한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범위라</a:t>
            </a:r>
            <a:r>
              <a:rPr lang="en-US" altLang="ko-KR" sz="11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채택</a:t>
            </a:r>
            <a:endParaRPr lang="en-US" altLang="ko-KR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25196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154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/>
          <p:nvPr/>
        </p:nvSpPr>
        <p:spPr>
          <a:xfrm>
            <a:off x="914400" y="4526280"/>
            <a:ext cx="32714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46,159 → 35,103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14400" y="5074920"/>
            <a:ext cx="32714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6DF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kt · 런던 전체 배출량 (2005→2014)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368698" y="4526280"/>
            <a:ext cx="32714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-24.0%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4368698" y="5074920"/>
            <a:ext cx="32714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6DF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전체기간 변화율 · 연평균 -3.00%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822997" y="4526280"/>
            <a:ext cx="32714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44.9 / 36.7 / 18.4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7822997" y="5074920"/>
            <a:ext cx="32714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6DF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% · 최근5년 부문비중 (산업·가정·교통)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54C45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02 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지표 정의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우선순위점수를 구성하는 5개 핵심 지표와 계산식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457200"/>
          </a:xfrm>
          <a:prstGeom prst="rect">
            <a:avLst/>
          </a:prstGeom>
          <a:solidFill>
            <a:srgbClr val="154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지표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74720" y="1874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계산식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961120" y="1874520"/>
            <a:ext cx="2590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의미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94415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전체기간 변화율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33172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(최신연도 − 최초연도) / 최초연도 × 100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0" y="2331720"/>
            <a:ext cx="25904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10년간 감축 속도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11094415" cy="65836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29900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최근5년 변화율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99008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(최신연도 − 5년전) / 5년전 × 100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0" y="2990088"/>
            <a:ext cx="25904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최근 추세로 방향 전환 포착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648456"/>
            <a:ext cx="11094415" cy="6583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364845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부문비중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648456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해당 부문 배출량 / 자치구 3개 부문 합계 × 100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961120" y="3648456"/>
            <a:ext cx="25904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어느 부문이 문제인지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11094415" cy="658368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31520" y="430682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1인당 배출량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430682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PerCapita_Emissions_t (원자료)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961120" y="4306824"/>
            <a:ext cx="25904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규모 대비 부담 비교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965192"/>
            <a:ext cx="11094415" cy="658368"/>
          </a:xfrm>
          <a:prstGeom prst="rect">
            <a:avLst/>
          </a:prstGeom>
          <a:solidFill>
            <a:srgbClr val="E7EE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31520" y="49651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54C45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우선순위점수 ★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4965192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(배출규모 백분위 + 감축부진 백분위) / 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0" y="4965192"/>
            <a:ext cx="25904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개입 우선순위 최종 지표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E9E9E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우선순위점수 0~1 사이, 1에 가까울수록 "배출량 크고 감축도 느린" 우선 개입 대상 · 자치구 대표점수 = 3개 부문 중 최고점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54C45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03 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대시보드가 답할 질문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05000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54C45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배출량이 크면서 감축이 더딘 자치구·부문 조합은 어디인가?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548640" y="2064585"/>
            <a:ext cx="10500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95959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→ 정책 개입 우선순위를 어떻게 정할 것인가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22960" y="3022092"/>
            <a:ext cx="585216" cy="585216"/>
          </a:xfrm>
          <a:prstGeom prst="ellipse">
            <a:avLst/>
          </a:prstGeom>
          <a:solidFill>
            <a:srgbClr val="154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22960" y="302209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72768" y="31318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규모와 속도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749040" y="2880360"/>
            <a:ext cx="7619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어느 자치구가 크고, 어디가 느린가?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913632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822960" y="4055364"/>
            <a:ext cx="585216" cy="585216"/>
          </a:xfrm>
          <a:prstGeom prst="ellipse">
            <a:avLst/>
          </a:prstGeom>
          <a:solidFill>
            <a:srgbClr val="154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405536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572768" y="41650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교차 우선순위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749040" y="3913632"/>
            <a:ext cx="7619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배출도 크고 감축도 느린 조합은 어디인가?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946904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822960" y="5088636"/>
            <a:ext cx="585216" cy="585216"/>
          </a:xfrm>
          <a:prstGeom prst="ellipse">
            <a:avLst/>
          </a:prstGeom>
          <a:solidFill>
            <a:srgbClr val="154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822960" y="508863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572768" y="51983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정책 액션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749040" y="4946904"/>
            <a:ext cx="761969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어디부터 손대야 하는가?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1499616"/>
            <a:ext cx="11094415" cy="457200"/>
          </a:xfrm>
          <a:prstGeom prst="roundRect">
            <a:avLst>
              <a:gd name="adj" fmla="val 10000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21792" y="1499616"/>
            <a:ext cx="109481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런던 자치구·부문별 CO</a:t>
            </a:r>
            <a:r>
              <a:rPr lang="en-US" sz="1150" baseline="-25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2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감축 우선순위 ·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부문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필터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(전체/산업·상업/가정/교통)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075688"/>
            <a:ext cx="2101840" cy="548640"/>
          </a:xfrm>
          <a:prstGeom prst="roundRect">
            <a:avLst>
              <a:gd name="adj" fmla="val 8333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21792" y="2075688"/>
            <a:ext cx="1854708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런던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전체</a:t>
            </a:r>
            <a:r>
              <a:rPr lang="en-US" sz="1150" dirty="0"/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배출량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1792" y="2386584"/>
            <a:ext cx="1955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KPI 카드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796784" y="2075688"/>
            <a:ext cx="2101840" cy="548640"/>
          </a:xfrm>
          <a:prstGeom prst="roundRect">
            <a:avLst>
              <a:gd name="adj" fmla="val 8333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869936" y="2075688"/>
            <a:ext cx="1955536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런던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전체</a:t>
            </a:r>
            <a:r>
              <a:rPr lang="en-US" sz="1150" dirty="0"/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추세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869936" y="2386584"/>
            <a:ext cx="1955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KPI 카드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44928" y="2075688"/>
            <a:ext cx="2101840" cy="548640"/>
          </a:xfrm>
          <a:prstGeom prst="roundRect">
            <a:avLst>
              <a:gd name="adj" fmla="val 8333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118080" y="2075688"/>
            <a:ext cx="1955536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최우선</a:t>
            </a:r>
            <a:r>
              <a:rPr lang="en-US" sz="1150" dirty="0"/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개입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조합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18080" y="2386584"/>
            <a:ext cx="1955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KPI 카드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293072" y="2075688"/>
            <a:ext cx="2101840" cy="548640"/>
          </a:xfrm>
          <a:prstGeom prst="roundRect">
            <a:avLst>
              <a:gd name="adj" fmla="val 8333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66224" y="2075688"/>
            <a:ext cx="1955536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가장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정체된</a:t>
            </a:r>
            <a:r>
              <a:rPr lang="en-US" sz="1150" dirty="0"/>
              <a:t> </a:t>
            </a:r>
            <a:r>
              <a:rPr lang="ko-KR" altLang="en-US" sz="1150" dirty="0">
                <a:solidFill>
                  <a:srgbClr val="FFFFFF"/>
                </a:solidFill>
                <a:latin typeface="Hallym Gothic Bold" pitchFamily="34" charset="0"/>
              </a:rPr>
              <a:t>부문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66224" y="2386584"/>
            <a:ext cx="1955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KPI 카드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541215" y="2075688"/>
            <a:ext cx="2101840" cy="548640"/>
          </a:xfrm>
          <a:prstGeom prst="roundRect">
            <a:avLst>
              <a:gd name="adj" fmla="val 8333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614367" y="2075688"/>
            <a:ext cx="1955536" cy="31089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증가한</a:t>
            </a:r>
            <a:r>
              <a:rPr lang="en-US" sz="1150" dirty="0"/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조합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수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14367" y="2386584"/>
            <a:ext cx="1955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KPI 카드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6878537" cy="868680"/>
          </a:xfrm>
          <a:prstGeom prst="roundRect">
            <a:avLst>
              <a:gd name="adj" fmla="val 5263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9679" y="2938707"/>
            <a:ext cx="6732233" cy="2608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런던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전체·자치구별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연도별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추이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9679" y="3236976"/>
            <a:ext cx="673223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선 그래프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573481" y="2743200"/>
            <a:ext cx="4069574" cy="868680"/>
          </a:xfrm>
          <a:prstGeom prst="roundRect">
            <a:avLst>
              <a:gd name="adj" fmla="val 5263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659051" y="2935224"/>
            <a:ext cx="392327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런던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전체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부문별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배출 비중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659051" y="3214551"/>
            <a:ext cx="3923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도넛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8640" y="3730752"/>
            <a:ext cx="11094415" cy="640080"/>
          </a:xfrm>
          <a:prstGeom prst="roundRect">
            <a:avLst>
              <a:gd name="adj" fmla="val 7143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1792" y="3842984"/>
            <a:ext cx="10948111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자치구별 배출량·감축률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종합</a:t>
            </a: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en-US" sz="11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순위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1792" y="4095641"/>
            <a:ext cx="1094811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가로 막대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489704"/>
            <a:ext cx="6878537" cy="868680"/>
          </a:xfrm>
          <a:prstGeom prst="roundRect">
            <a:avLst>
              <a:gd name="adj" fmla="val 5263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Text 29"/>
          <p:cNvSpPr/>
          <p:nvPr/>
        </p:nvSpPr>
        <p:spPr>
          <a:xfrm>
            <a:off x="3226561" y="4681728"/>
            <a:ext cx="1522694" cy="265611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우선순위 상위 조합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09267" y="4947121"/>
            <a:ext cx="757282" cy="3163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산점도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573481" y="4489704"/>
            <a:ext cx="4069574" cy="868680"/>
          </a:xfrm>
          <a:prstGeom prst="roundRect">
            <a:avLst>
              <a:gd name="adj" fmla="val 5263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8593924" y="4731585"/>
            <a:ext cx="2028688" cy="21945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우선 개입군 요약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46633" y="4986419"/>
            <a:ext cx="392327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인사이트 카드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5477256"/>
            <a:ext cx="11094415" cy="502920"/>
          </a:xfrm>
          <a:prstGeom prst="roundRect">
            <a:avLst>
              <a:gd name="adj" fmla="val 9091"/>
            </a:avLst>
          </a:prstGeom>
          <a:solidFill>
            <a:srgbClr val="1E5D53"/>
          </a:solidFill>
          <a:ln w="12700">
            <a:solidFill>
              <a:srgbClr val="2E6E6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21792" y="5477256"/>
            <a:ext cx="10948111" cy="26517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정책 우선순위 권고 표 · 자치구별 그룹 / 조합 우선순위 토글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1792" y="5742432"/>
            <a:ext cx="1094811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chemeClr val="accent4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표</a:t>
            </a:r>
            <a:endParaRPr lang="en-US" sz="1100" dirty="0">
              <a:solidFill>
                <a:schemeClr val="accent4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AD282497-B8CB-7FCD-43C5-5A78CA9EBFC3}"/>
              </a:ext>
            </a:extLst>
          </p:cNvPr>
          <p:cNvSpPr/>
          <p:nvPr/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 err="1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대시보드</a:t>
            </a:r>
            <a:r>
              <a:rPr lang="en-US" sz="26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ko-KR" altLang="en-US" sz="26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레이아웃</a:t>
            </a:r>
            <a:endParaRPr lang="en-US" sz="2600" dirty="0"/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5648A2E4-0BB0-EA7E-1DCC-BD6647ED8419}"/>
              </a:ext>
            </a:extLst>
          </p:cNvPr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>
                <a:solidFill>
                  <a:srgbClr val="154C45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04  LAYOUT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54C45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05 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완성 대시보드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1" y="1243584"/>
            <a:ext cx="53296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  <a:hlinkClick r:id="rId3"/>
              </a:rPr>
              <a:t>https://co2-priority-dashboard.netlify.app/</a:t>
            </a:r>
            <a:r>
              <a:rPr lang="en-US" sz="12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— 브라우저에서 바로 열람 가능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760026" y="1831225"/>
            <a:ext cx="3779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4C45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읽는 법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760026" y="2288425"/>
            <a:ext cx="3779215" cy="868680"/>
          </a:xfrm>
          <a:prstGeom prst="roundRect">
            <a:avLst>
              <a:gd name="adj" fmla="val 6316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1942906" y="2379865"/>
            <a:ext cx="3413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4C45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위 → </a:t>
            </a:r>
            <a:r>
              <a:rPr lang="en-US" sz="1150" dirty="0" err="1">
                <a:solidFill>
                  <a:srgbClr val="154C45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아래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942906" y="2654185"/>
            <a:ext cx="3413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STEP1(핵심지표) → STEP2(규모·속도) → STEP3(교차우선순위) → STEP4(액션 표) </a:t>
            </a:r>
            <a:r>
              <a:rPr lang="en-US" sz="10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순으로</a:t>
            </a:r>
            <a:r>
              <a:rPr lang="en-US" sz="1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sz="10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읽는다</a:t>
            </a:r>
            <a:r>
              <a:rPr lang="en-US" sz="1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60026" y="3294265"/>
            <a:ext cx="3779215" cy="868680"/>
          </a:xfrm>
          <a:prstGeom prst="roundRect">
            <a:avLst>
              <a:gd name="adj" fmla="val 6316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1942906" y="3385705"/>
            <a:ext cx="3413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4C45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막대 색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942906" y="3660025"/>
            <a:ext cx="3413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연한 빨강(빠른 감축) ~ 진한 빨강(느린 감축·증가),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단일톤</a:t>
            </a:r>
            <a:r>
              <a:rPr lang="en-US" sz="1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그라데이션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760026" y="4300105"/>
            <a:ext cx="3779215" cy="868680"/>
          </a:xfrm>
          <a:prstGeom prst="roundRect">
            <a:avLst>
              <a:gd name="adj" fmla="val 6316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1942906" y="4391545"/>
            <a:ext cx="3413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4C45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상단 필터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942906" y="4665865"/>
            <a:ext cx="3413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전체 / 산업·상업 / 가정 / </a:t>
            </a:r>
            <a:r>
              <a:rPr lang="en-US" sz="10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교통</a:t>
            </a:r>
            <a:r>
              <a:rPr lang="en-US" sz="1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— 부문 필터로 모든 차트·표가 함께 갱신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1760026" y="5305945"/>
            <a:ext cx="3779215" cy="868680"/>
          </a:xfrm>
          <a:prstGeom prst="roundRect">
            <a:avLst>
              <a:gd name="adj" fmla="val 6316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1942906" y="5397385"/>
            <a:ext cx="3413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54C45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STEP4 표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942906" y="5671705"/>
            <a:ext cx="3413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"자치구별 그룹" ↔ "조합 우선순위" </a:t>
            </a:r>
            <a:r>
              <a:rPr lang="en-US" sz="100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토글로</a:t>
            </a:r>
            <a:r>
              <a:rPr lang="en-US" sz="100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두 가지 방식 확인 가능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06</a:t>
            </a:r>
            <a:endParaRPr lang="en-US" sz="10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78B19D7-5BB6-B429-F25A-F29D0E577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890" y="1058693"/>
            <a:ext cx="2829084" cy="51978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54C45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06 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인사이트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대시보드로 확인한 3가지 핵심 발견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154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585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88036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산업·상업 부문에 </a:t>
            </a:r>
            <a:r>
              <a:rPr lang="en-US" sz="14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집중해야</a:t>
            </a:r>
            <a:r>
              <a:rPr lang="en-US" sz="14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en-US" sz="1450" dirty="0" err="1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한다</a:t>
            </a:r>
            <a:r>
              <a:rPr lang="en-US" sz="145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96661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080" dirty="0">
                <a:solidFill>
                  <a:srgbClr val="E3F0EB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우선순위 상위 10개 조합 중 8개가 산업·상업. 최근5년 비중 44.9%로 가장 크고, 조금만 감축이 더뎌도 점수가 최상위로 오른다. 가정 부문은 감축이 빨라(-26.5%) 상위권에 하나도 없다.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38218" y="187452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612538" y="2148840"/>
            <a:ext cx="548640" cy="548640"/>
          </a:xfrm>
          <a:prstGeom prst="ellipse">
            <a:avLst/>
          </a:prstGeom>
          <a:solidFill>
            <a:srgbClr val="154C4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icon_tren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266" y="22585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2538" y="288036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런던 전체는 순항, 소수만 정체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12538" y="3703320"/>
            <a:ext cx="296661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2005→2014, 46,159kt → 35,103kt (-24.0%, 연평균 -3.00%). 99개 조합 중 증가한 건 해크니 산업·상업 단 1개뿐 — "전체는 잘 하고 있지만 일부가 발목"이라는 그림.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27797" y="1874520"/>
            <a:ext cx="3515258" cy="4114800"/>
          </a:xfrm>
          <a:prstGeom prst="roundRect">
            <a:avLst>
              <a:gd name="adj" fmla="val 2081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402117" y="2148840"/>
            <a:ext cx="548640" cy="548640"/>
          </a:xfrm>
          <a:prstGeom prst="ellipse">
            <a:avLst/>
          </a:prstGeom>
          <a:solidFill>
            <a:srgbClr val="154C4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icon_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845" y="225856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02117" y="288036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"크다"고 다 </a:t>
            </a:r>
            <a:r>
              <a:rPr lang="en-US" sz="1450" dirty="0" err="1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우선순위는</a:t>
            </a:r>
            <a:r>
              <a:rPr lang="en-US" sz="145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</a:t>
            </a:r>
            <a:r>
              <a:rPr lang="en-US" sz="1450" dirty="0" err="1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아니다</a:t>
            </a:r>
            <a:r>
              <a:rPr lang="en-US" sz="145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(+한계)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48624" y="3703320"/>
            <a:ext cx="3073603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30000"/>
              </a:lnSpc>
            </a:pP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웨스트민스터는 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2014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년 배출량 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1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위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(2,500kt)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지만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, </a:t>
            </a:r>
            <a:r>
              <a:rPr lang="ko-KR" altLang="en-US" sz="108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감축률도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준수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(-26%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대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)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해서 우선순위 목록에서 빠진다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. 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이는 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"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배출량과 감축 속도를 함께 봐야 한다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"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는 지표 설계 취지를 잘 보여주는 사례지만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, 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동시에 절대 배출량이 큰 곳도 </a:t>
            </a:r>
            <a:r>
              <a:rPr lang="ko-KR" altLang="en-US" sz="108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감축률만</a:t>
            </a:r>
            <a:r>
              <a:rPr lang="ko-KR" altLang="en-US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준수하면 우선순위에서 제외될 수 있다는 지표의 한계이기도 하다</a:t>
            </a:r>
            <a:r>
              <a:rPr lang="en-US" altLang="ko-KR" sz="108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.</a:t>
            </a:r>
            <a:endParaRPr lang="en-US" sz="108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154C45"/>
                </a:solidFill>
                <a:latin typeface="Hallym Gothic Medium" pitchFamily="34" charset="0"/>
                <a:ea typeface="Hallym Gothic Medium" pitchFamily="34" charset="-122"/>
                <a:cs typeface="Hallym Gothic Medium" pitchFamily="34" charset="-120"/>
              </a:rPr>
              <a:t>07 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정책 액션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우선순위점수 기준 개입 순서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154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2180844"/>
            <a:ext cx="9814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Newham · 산업·상업 최우선 투입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00200" y="2596896"/>
            <a:ext cx="9814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배출 623kt, 10년간 -4.2%뿐 — 감축이 사실상 멈춤. 산업 에너지효율 개선 프로그램 최우선 대상.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22960" y="3822192"/>
            <a:ext cx="548640" cy="548640"/>
          </a:xfrm>
          <a:prstGeom prst="ellipse">
            <a:avLst/>
          </a:prstGeom>
          <a:solidFill>
            <a:srgbClr val="154C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717036"/>
            <a:ext cx="9814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 err="1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부문</a:t>
            </a:r>
            <a:r>
              <a:rPr lang="en-US" sz="145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 단위 대응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600200" y="4062329"/>
            <a:ext cx="9814255" cy="548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</a:pP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산업·상업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(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상위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10개 중 8개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차지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):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상업용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건물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에너지효율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인증·규제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,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노후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설비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교체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지원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.</a:t>
            </a:r>
            <a:endParaRPr lang="en-US" altLang="ko-KR" sz="1150" dirty="0"/>
          </a:p>
          <a:p>
            <a:pPr>
              <a:lnSpc>
                <a:spcPct val="125000"/>
              </a:lnSpc>
            </a:pP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교통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(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Hillingdon·Barnet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최상위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):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저공해차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전환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인센티브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,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혼잡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구간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교통수요관리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강화</a:t>
            </a:r>
            <a:r>
              <a:rPr lang="en-US" altLang="ko-KR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946904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22960" y="5358384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2960" y="5358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00200" y="5253228"/>
            <a:ext cx="98142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22222"/>
                </a:solidFill>
                <a:latin typeface="Hallym Gothic Bold" pitchFamily="34" charset="0"/>
                <a:ea typeface="Hallym Gothic Bold" pitchFamily="34" charset="-122"/>
                <a:cs typeface="Hallym Gothic Bold" pitchFamily="34" charset="-120"/>
              </a:rPr>
              <a:t>Hackney 산업·상업 원인 조사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00200" y="5623342"/>
            <a:ext cx="9814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유일하게 배출량이 +14.4% 증가한 조합. 원인 파악(신규 산업시설 등) 후 대응 방안 수립 필요.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E9E9E"/>
                </a:solidFill>
                <a:latin typeface="Hallym Gothic Regular" pitchFamily="34" charset="0"/>
                <a:ea typeface="Hallym Gothic Regular" pitchFamily="34" charset="-122"/>
                <a:cs typeface="Hallym Gothic Regular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827</Words>
  <Application>Microsoft Office PowerPoint</Application>
  <PresentationFormat>와이드스크린</PresentationFormat>
  <Paragraphs>135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Hallym Gothic Bold</vt:lpstr>
      <vt:lpstr>Hallym Gothic Medium</vt:lpstr>
      <vt:lpstr>Hallym Gothic Regular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ahnny215@gmail.com</cp:lastModifiedBy>
  <cp:revision>6</cp:revision>
  <dcterms:created xsi:type="dcterms:W3CDTF">2026-09-08T02:56:42Z</dcterms:created>
  <dcterms:modified xsi:type="dcterms:W3CDTF">2026-09-08T07:56:21Z</dcterms:modified>
</cp:coreProperties>
</file>